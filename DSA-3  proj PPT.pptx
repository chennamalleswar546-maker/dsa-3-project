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465BAA-A2F7-4B32-AFF7-1407673DB708}" v="31" dt="2026-08-27T05:35:24.3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a:t>
            </a:r>
          </a:p>
        </p:txBody>
      </p:sp>
      <p:sp>
        <p:nvSpPr>
          <p:cNvPr id="3" name="Subtitle 2"/>
          <p:cNvSpPr>
            <a:spLocks noGrp="1"/>
          </p:cNvSpPr>
          <p:nvPr>
            <p:ph type="subTitle" idx="1"/>
          </p:nvPr>
        </p:nvSpPr>
        <p:spPr>
          <a:xfrm>
            <a:off x="4158296" y="3429000"/>
            <a:ext cx="4551284" cy="1396014"/>
          </a:xfrm>
        </p:spPr>
        <p:txBody>
          <a:bodyPr/>
          <a:lstStyle/>
          <a:p>
            <a:r>
              <a:rPr lang="en-US" dirty="0">
                <a:solidFill>
                  <a:srgbClr val="0070C0"/>
                </a:solidFill>
              </a:rPr>
              <a:t>Team Members</a:t>
            </a:r>
          </a:p>
          <a:p>
            <a:pPr algn="l"/>
            <a:r>
              <a:rPr lang="en-IN" dirty="0"/>
              <a:t>B. Chenna - 2520030546 </a:t>
            </a:r>
          </a:p>
          <a:p>
            <a:pPr algn="l"/>
            <a:r>
              <a:rPr lang="en-IN" dirty="0"/>
              <a:t>S. Bheeshma - 2520030528</a:t>
            </a:r>
          </a:p>
          <a:p>
            <a:pPr algn="l"/>
            <a:r>
              <a:rPr lang="en-IN" dirty="0"/>
              <a:t>T. Abhinav-2520030075</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Name of the DSA-3 faculty name with designation and department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77294920-D101-8B57-83C3-E5681DD95027}"/>
              </a:ext>
            </a:extLst>
          </p:cNvPr>
          <p:cNvSpPr txBox="1"/>
          <p:nvPr/>
        </p:nvSpPr>
        <p:spPr>
          <a:xfrm>
            <a:off x="3048778" y="1028343"/>
            <a:ext cx="6057900" cy="4893647"/>
          </a:xfrm>
          <a:prstGeom prst="rect">
            <a:avLst/>
          </a:prstGeom>
          <a:noFill/>
        </p:spPr>
        <p:txBody>
          <a:bodyPr wrap="square">
            <a:spAutoFit/>
          </a:bodyPr>
          <a:lstStyle/>
          <a:p>
            <a:r>
              <a:rPr lang="en-IN" dirty="0"/>
              <a:t>The SOS Dynamic Programming Based Subset Optimization and Query Engine is a computational tool designed to efficiently answer multiple subset-based queries on an integer set using </a:t>
            </a:r>
            <a:r>
              <a:rPr lang="en-IN" b="1" dirty="0"/>
              <a:t>Sum Over Subsets (SOS) Dynamic Programming</a:t>
            </a:r>
            <a:r>
              <a:rPr lang="en-IN" dirty="0"/>
              <a:t>. The system represents elements and subsets using bitmasks, with the input size restricted to </a:t>
            </a:r>
            <a:r>
              <a:rPr lang="en-IN" b="1" dirty="0"/>
              <a:t>n ≤ 20</a:t>
            </a:r>
            <a:r>
              <a:rPr lang="en-IN" dirty="0"/>
              <a:t>, and computes aggregate subset values efficiently in </a:t>
            </a:r>
            <a:r>
              <a:rPr lang="en-IN" b="1" dirty="0"/>
              <a:t>O(n × 2ⁿ)</a:t>
            </a:r>
            <a:r>
              <a:rPr lang="en-IN" dirty="0"/>
              <a:t> time. Users can enter an integer set and perform different subset-sum queries while the system displays the corresponding results. The application also compares the execution time of SOS DP with a brute-force approach to demonstrate its efficiency for large numbers of subset queries. A visualization module can represent subset relationships and algorithm performance through graphs and bitmask-based representations. The project demonstrates important concepts of dynamic programming, </a:t>
            </a:r>
            <a:r>
              <a:rPr lang="en-IN" dirty="0" err="1"/>
              <a:t>bitmasking</a:t>
            </a:r>
            <a:r>
              <a:rPr lang="en-IN" dirty="0"/>
              <a:t>, subset optimization, algorithm analysis, and performance evaluation in a practical application.</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23681A89-982D-1768-F78C-DACB77761A1A}"/>
              </a:ext>
            </a:extLst>
          </p:cNvPr>
          <p:cNvSpPr txBox="1"/>
          <p:nvPr/>
        </p:nvSpPr>
        <p:spPr>
          <a:xfrm>
            <a:off x="3048778" y="751344"/>
            <a:ext cx="6097554" cy="5355312"/>
          </a:xfrm>
          <a:prstGeom prst="rect">
            <a:avLst/>
          </a:prstGeom>
          <a:noFill/>
        </p:spPr>
        <p:txBody>
          <a:bodyPr wrap="square">
            <a:spAutoFit/>
          </a:bodyPr>
          <a:lstStyle/>
          <a:p>
            <a:pPr>
              <a:buNone/>
            </a:pPr>
            <a:r>
              <a:rPr lang="en-IN" dirty="0"/>
              <a:t>Subset-based problems are an important class of computational problems that require finding or calculating values for different subsets of a given set. When the number of elements increases, checking every possible subset separately can become computationally expensive because a set of </a:t>
            </a:r>
            <a:r>
              <a:rPr lang="en-IN" b="1" dirty="0"/>
              <a:t>n elements has 2ⁿ possible subsets</a:t>
            </a:r>
            <a:r>
              <a:rPr lang="en-IN" dirty="0"/>
              <a:t>. The </a:t>
            </a:r>
            <a:r>
              <a:rPr lang="en-IN" b="1" dirty="0"/>
              <a:t>Sum Over Subsets (SOS) Dynamic Programming</a:t>
            </a:r>
            <a:r>
              <a:rPr lang="en-IN" dirty="0"/>
              <a:t> technique provides an efficient way to preprocess information about all subsets and answer multiple subset-based queries quickly.</a:t>
            </a:r>
          </a:p>
          <a:p>
            <a:pPr>
              <a:buNone/>
            </a:pPr>
            <a:r>
              <a:rPr lang="en-IN" dirty="0"/>
              <a:t>This project develops an </a:t>
            </a:r>
            <a:r>
              <a:rPr lang="en-IN" b="1" dirty="0"/>
              <a:t>SOS Dynamic Programming Based Subset Optimization and Query Engine</a:t>
            </a:r>
            <a:r>
              <a:rPr lang="en-IN" dirty="0"/>
              <a:t> for integer sets with </a:t>
            </a:r>
            <a:r>
              <a:rPr lang="en-IN" b="1" dirty="0"/>
              <a:t>n ≤ 20</a:t>
            </a:r>
            <a:r>
              <a:rPr lang="en-IN" dirty="0"/>
              <a:t>. The system uses bitmask representation to identify subsets and applies SOS DP to calculate aggregate subset values in </a:t>
            </a:r>
            <a:r>
              <a:rPr lang="en-IN" b="1" dirty="0"/>
              <a:t>O(n × 2ⁿ)</a:t>
            </a:r>
            <a:r>
              <a:rPr lang="en-IN" dirty="0"/>
              <a:t> time. It also compares the performance of SOS DP with a brute-force approach, allowing users to observe the improvement in execution time. Through subset visualization and performance analysis, the project demonstrates how advanced dynamic programming techniques can solve large numbers of subset queries efficiently.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4" name="Table 3">
            <a:extLst>
              <a:ext uri="{FF2B5EF4-FFF2-40B4-BE49-F238E27FC236}">
                <a16:creationId xmlns:a16="http://schemas.microsoft.com/office/drawing/2014/main" id="{44749089-A9FF-C09D-6BFD-E45AF305BBE6}"/>
              </a:ext>
            </a:extLst>
          </p:cNvPr>
          <p:cNvGraphicFramePr>
            <a:graphicFrameLocks noGrp="1"/>
          </p:cNvGraphicFramePr>
          <p:nvPr>
            <p:extLst>
              <p:ext uri="{D42A27DB-BD31-4B8C-83A1-F6EECF244321}">
                <p14:modId xmlns:p14="http://schemas.microsoft.com/office/powerpoint/2010/main" val="1895664979"/>
              </p:ext>
            </p:extLst>
          </p:nvPr>
        </p:nvGraphicFramePr>
        <p:xfrm>
          <a:off x="2660071" y="898235"/>
          <a:ext cx="8359381" cy="5491480"/>
        </p:xfrm>
        <a:graphic>
          <a:graphicData uri="http://schemas.openxmlformats.org/drawingml/2006/table">
            <a:tbl>
              <a:tblPr firstRow="1" bandRow="1">
                <a:tableStyleId>{5C22544A-7EE6-4342-B048-85BDC9FD1C3A}</a:tableStyleId>
              </a:tblPr>
              <a:tblGrid>
                <a:gridCol w="747634">
                  <a:extLst>
                    <a:ext uri="{9D8B030D-6E8A-4147-A177-3AD203B41FA5}">
                      <a16:colId xmlns:a16="http://schemas.microsoft.com/office/drawing/2014/main" val="376819523"/>
                    </a:ext>
                  </a:extLst>
                </a:gridCol>
                <a:gridCol w="2197536">
                  <a:extLst>
                    <a:ext uri="{9D8B030D-6E8A-4147-A177-3AD203B41FA5}">
                      <a16:colId xmlns:a16="http://schemas.microsoft.com/office/drawing/2014/main" val="1449162587"/>
                    </a:ext>
                  </a:extLst>
                </a:gridCol>
                <a:gridCol w="3324366">
                  <a:extLst>
                    <a:ext uri="{9D8B030D-6E8A-4147-A177-3AD203B41FA5}">
                      <a16:colId xmlns:a16="http://schemas.microsoft.com/office/drawing/2014/main" val="869680923"/>
                    </a:ext>
                  </a:extLst>
                </a:gridCol>
                <a:gridCol w="2089845">
                  <a:extLst>
                    <a:ext uri="{9D8B030D-6E8A-4147-A177-3AD203B41FA5}">
                      <a16:colId xmlns:a16="http://schemas.microsoft.com/office/drawing/2014/main" val="2718842342"/>
                    </a:ext>
                  </a:extLst>
                </a:gridCol>
              </a:tblGrid>
              <a:tr h="370840">
                <a:tc>
                  <a:txBody>
                    <a:bodyPr/>
                    <a:lstStyle/>
                    <a:p>
                      <a:r>
                        <a:rPr lang="en-IN" dirty="0"/>
                        <a:t>S.no</a:t>
                      </a:r>
                    </a:p>
                  </a:txBody>
                  <a:tcPr/>
                </a:tc>
                <a:tc>
                  <a:txBody>
                    <a:bodyPr/>
                    <a:lstStyle/>
                    <a:p>
                      <a:r>
                        <a:rPr lang="en-IN" dirty="0"/>
                        <a:t>Topic/ </a:t>
                      </a:r>
                      <a:r>
                        <a:rPr lang="en-IN" dirty="0" err="1"/>
                        <a:t>Techinque</a:t>
                      </a:r>
                      <a:endParaRPr lang="en-IN" dirty="0"/>
                    </a:p>
                  </a:txBody>
                  <a:tcPr/>
                </a:tc>
                <a:tc>
                  <a:txBody>
                    <a:bodyPr/>
                    <a:lstStyle/>
                    <a:p>
                      <a:r>
                        <a:rPr lang="en-IN" dirty="0"/>
                        <a:t>Key Findings</a:t>
                      </a:r>
                    </a:p>
                  </a:txBody>
                  <a:tcPr/>
                </a:tc>
                <a:tc>
                  <a:txBody>
                    <a:bodyPr/>
                    <a:lstStyle/>
                    <a:p>
                      <a:r>
                        <a:rPr lang="en-IN" dirty="0"/>
                        <a:t>Relevance</a:t>
                      </a:r>
                    </a:p>
                  </a:txBody>
                  <a:tcPr/>
                </a:tc>
                <a:extLst>
                  <a:ext uri="{0D108BD9-81ED-4DB2-BD59-A6C34878D82A}">
                    <a16:rowId xmlns:a16="http://schemas.microsoft.com/office/drawing/2014/main" val="2288132056"/>
                  </a:ext>
                </a:extLst>
              </a:tr>
              <a:tr h="370840">
                <a:tc>
                  <a:txBody>
                    <a:bodyPr/>
                    <a:lstStyle/>
                    <a:p>
                      <a:r>
                        <a:rPr lang="en-IN" dirty="0"/>
                        <a:t>1</a:t>
                      </a:r>
                    </a:p>
                  </a:txBody>
                  <a:tcPr/>
                </a:tc>
                <a:tc>
                  <a:txBody>
                    <a:bodyPr/>
                    <a:lstStyle/>
                    <a:p>
                      <a:r>
                        <a:rPr lang="en-IN" dirty="0"/>
                        <a:t>Dynamic Programming</a:t>
                      </a:r>
                    </a:p>
                  </a:txBody>
                  <a:tcPr/>
                </a:tc>
                <a:tc>
                  <a:txBody>
                    <a:bodyPr/>
                    <a:lstStyle/>
                    <a:p>
                      <a:pPr>
                        <a:buNone/>
                      </a:pPr>
                      <a:r>
                        <a:rPr lang="en-IN" dirty="0"/>
                        <a:t>DP solves problems by storing results of overlapping subproblems and avoiding repeated computation.</a:t>
                      </a:r>
                    </a:p>
                  </a:txBody>
                  <a:tcPr anchor="ctr"/>
                </a:tc>
                <a:tc>
                  <a:txBody>
                    <a:bodyPr/>
                    <a:lstStyle/>
                    <a:p>
                      <a:r>
                        <a:rPr lang="en-IN" dirty="0"/>
                        <a:t>Provides the foundation for SOS DP.</a:t>
                      </a:r>
                    </a:p>
                  </a:txBody>
                  <a:tcPr/>
                </a:tc>
                <a:extLst>
                  <a:ext uri="{0D108BD9-81ED-4DB2-BD59-A6C34878D82A}">
                    <a16:rowId xmlns:a16="http://schemas.microsoft.com/office/drawing/2014/main" val="794194547"/>
                  </a:ext>
                </a:extLst>
              </a:tr>
              <a:tr h="370840">
                <a:tc>
                  <a:txBody>
                    <a:bodyPr/>
                    <a:lstStyle/>
                    <a:p>
                      <a:r>
                        <a:rPr lang="en-IN" dirty="0"/>
                        <a:t>2</a:t>
                      </a:r>
                    </a:p>
                  </a:txBody>
                  <a:tcPr/>
                </a:tc>
                <a:tc>
                  <a:txBody>
                    <a:bodyPr/>
                    <a:lstStyle/>
                    <a:p>
                      <a:pPr>
                        <a:buNone/>
                      </a:pPr>
                      <a:r>
                        <a:rPr lang="en-IN" dirty="0" err="1"/>
                        <a:t>Bitmasking</a:t>
                      </a:r>
                      <a:endParaRPr lang="en-IN" dirty="0"/>
                    </a:p>
                  </a:txBody>
                  <a:tcPr anchor="ctr"/>
                </a:tc>
                <a:tc>
                  <a:txBody>
                    <a:bodyPr/>
                    <a:lstStyle/>
                    <a:p>
                      <a:pPr>
                        <a:buNone/>
                      </a:pPr>
                      <a:r>
                        <a:rPr lang="en-IN" dirty="0"/>
                        <a:t>Represents subsets using binary numbers, allowing efficient subset manipulation.</a:t>
                      </a:r>
                    </a:p>
                  </a:txBody>
                  <a:tcPr anchor="ctr"/>
                </a:tc>
                <a:tc>
                  <a:txBody>
                    <a:bodyPr/>
                    <a:lstStyle/>
                    <a:p>
                      <a:r>
                        <a:rPr lang="en-IN" dirty="0"/>
                        <a:t>Used to represent all subsets of the integer set.</a:t>
                      </a:r>
                    </a:p>
                  </a:txBody>
                  <a:tcPr/>
                </a:tc>
                <a:extLst>
                  <a:ext uri="{0D108BD9-81ED-4DB2-BD59-A6C34878D82A}">
                    <a16:rowId xmlns:a16="http://schemas.microsoft.com/office/drawing/2014/main" val="3066064330"/>
                  </a:ext>
                </a:extLst>
              </a:tr>
              <a:tr h="370840">
                <a:tc>
                  <a:txBody>
                    <a:bodyPr/>
                    <a:lstStyle/>
                    <a:p>
                      <a:r>
                        <a:rPr lang="en-IN" dirty="0"/>
                        <a:t>3</a:t>
                      </a:r>
                    </a:p>
                  </a:txBody>
                  <a:tcPr/>
                </a:tc>
                <a:tc>
                  <a:txBody>
                    <a:bodyPr/>
                    <a:lstStyle/>
                    <a:p>
                      <a:pPr>
                        <a:buNone/>
                      </a:pPr>
                      <a:r>
                        <a:rPr lang="en-IN" dirty="0"/>
                        <a:t>Subset Sum Problem</a:t>
                      </a:r>
                    </a:p>
                  </a:txBody>
                  <a:tcPr anchor="ctr"/>
                </a:tc>
                <a:tc>
                  <a:txBody>
                    <a:bodyPr/>
                    <a:lstStyle/>
                    <a:p>
                      <a:r>
                        <a:rPr lang="en-IN" dirty="0"/>
                        <a:t>Traditional approaches enumerate possible subsets, which becomes expensive as the input size increases.</a:t>
                      </a:r>
                    </a:p>
                  </a:txBody>
                  <a:tcPr/>
                </a:tc>
                <a:tc>
                  <a:txBody>
                    <a:bodyPr/>
                    <a:lstStyle/>
                    <a:p>
                      <a:r>
                        <a:rPr lang="en-IN" dirty="0"/>
                        <a:t>Motivates the need for optimization</a:t>
                      </a:r>
                    </a:p>
                  </a:txBody>
                  <a:tcPr/>
                </a:tc>
                <a:extLst>
                  <a:ext uri="{0D108BD9-81ED-4DB2-BD59-A6C34878D82A}">
                    <a16:rowId xmlns:a16="http://schemas.microsoft.com/office/drawing/2014/main" val="463474109"/>
                  </a:ext>
                </a:extLst>
              </a:tr>
              <a:tr h="370840">
                <a:tc>
                  <a:txBody>
                    <a:bodyPr/>
                    <a:lstStyle/>
                    <a:p>
                      <a:r>
                        <a:rPr lang="en-IN" dirty="0"/>
                        <a:t>4</a:t>
                      </a:r>
                    </a:p>
                  </a:txBody>
                  <a:tcPr/>
                </a:tc>
                <a:tc>
                  <a:txBody>
                    <a:bodyPr/>
                    <a:lstStyle/>
                    <a:p>
                      <a:r>
                        <a:rPr lang="en-IN" dirty="0"/>
                        <a:t>Sum Over Subsets (SOS) DP</a:t>
                      </a:r>
                    </a:p>
                  </a:txBody>
                  <a:tcPr/>
                </a:tc>
                <a:tc>
                  <a:txBody>
                    <a:bodyPr/>
                    <a:lstStyle/>
                    <a:p>
                      <a:r>
                        <a:rPr lang="en-IN" dirty="0"/>
                        <a:t>Computes aggregate values over all </a:t>
                      </a:r>
                      <a:r>
                        <a:rPr lang="en-IN" dirty="0" err="1"/>
                        <a:t>submasks</a:t>
                      </a:r>
                      <a:r>
                        <a:rPr lang="en-IN" dirty="0"/>
                        <a:t> efficiently in </a:t>
                      </a:r>
                      <a:r>
                        <a:rPr lang="en-IN" b="1" dirty="0"/>
                        <a:t>O(n × 2ⁿ)</a:t>
                      </a:r>
                      <a:r>
                        <a:rPr lang="en-IN" dirty="0"/>
                        <a:t> time.</a:t>
                      </a:r>
                    </a:p>
                  </a:txBody>
                  <a:tcPr/>
                </a:tc>
                <a:tc>
                  <a:txBody>
                    <a:bodyPr/>
                    <a:lstStyle/>
                    <a:p>
                      <a:r>
                        <a:rPr lang="en-IN" dirty="0"/>
                        <a:t>Core algorithm used in the proposed system.</a:t>
                      </a:r>
                    </a:p>
                  </a:txBody>
                  <a:tcPr/>
                </a:tc>
                <a:extLst>
                  <a:ext uri="{0D108BD9-81ED-4DB2-BD59-A6C34878D82A}">
                    <a16:rowId xmlns:a16="http://schemas.microsoft.com/office/drawing/2014/main" val="1743711577"/>
                  </a:ext>
                </a:extLst>
              </a:tr>
              <a:tr h="370840">
                <a:tc>
                  <a:txBody>
                    <a:bodyPr/>
                    <a:lstStyle/>
                    <a:p>
                      <a:r>
                        <a:rPr lang="en-IN" dirty="0"/>
                        <a:t>5</a:t>
                      </a:r>
                    </a:p>
                  </a:txBody>
                  <a:tcPr/>
                </a:tc>
                <a:tc>
                  <a:txBody>
                    <a:bodyPr/>
                    <a:lstStyle/>
                    <a:p>
                      <a:r>
                        <a:rPr lang="en-IN" dirty="0"/>
                        <a:t>Performance Visualization</a:t>
                      </a:r>
                    </a:p>
                  </a:txBody>
                  <a:tcPr/>
                </a:tc>
                <a:tc>
                  <a:txBody>
                    <a:bodyPr/>
                    <a:lstStyle/>
                    <a:p>
                      <a:r>
                        <a:rPr lang="en-IN" dirty="0"/>
                        <a:t>Graphs and execution-time measurements help demonstrate algorithmic efficiency.</a:t>
                      </a:r>
                    </a:p>
                  </a:txBody>
                  <a:tcPr/>
                </a:tc>
                <a:tc>
                  <a:txBody>
                    <a:bodyPr/>
                    <a:lstStyle/>
                    <a:p>
                      <a:r>
                        <a:rPr lang="en-IN" dirty="0"/>
                        <a:t>Used to compare SOS DP with brute force.</a:t>
                      </a:r>
                    </a:p>
                  </a:txBody>
                  <a:tcPr/>
                </a:tc>
                <a:extLst>
                  <a:ext uri="{0D108BD9-81ED-4DB2-BD59-A6C34878D82A}">
                    <a16:rowId xmlns:a16="http://schemas.microsoft.com/office/drawing/2014/main" val="172160313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198A67FD-5EB6-AD90-E797-9D0A26389333}"/>
              </a:ext>
            </a:extLst>
          </p:cNvPr>
          <p:cNvSpPr txBox="1"/>
          <p:nvPr/>
        </p:nvSpPr>
        <p:spPr>
          <a:xfrm>
            <a:off x="3013788" y="1156996"/>
            <a:ext cx="7688424" cy="2308324"/>
          </a:xfrm>
          <a:prstGeom prst="rect">
            <a:avLst/>
          </a:prstGeom>
          <a:noFill/>
        </p:spPr>
        <p:txBody>
          <a:bodyPr wrap="square">
            <a:spAutoFit/>
          </a:bodyPr>
          <a:lstStyle/>
          <a:p>
            <a:pPr>
              <a:buNone/>
            </a:pPr>
            <a:r>
              <a:rPr lang="en-IN" b="1" dirty="0"/>
              <a:t>Problem Statement</a:t>
            </a:r>
          </a:p>
          <a:p>
            <a:pPr>
              <a:buNone/>
            </a:pPr>
            <a:r>
              <a:rPr lang="en-IN" dirty="0"/>
              <a:t>Traditional brute-force methods for solving multiple subset-sum queries become inefficient as the number of elements increases because they repeatedly examine a large number of subsets. This project develops a </a:t>
            </a:r>
            <a:r>
              <a:rPr lang="en-IN" b="1" dirty="0"/>
              <a:t>Subset Optimization Tool using Sum Over Subsets (SOS) Dynamic Programming</a:t>
            </a:r>
            <a:r>
              <a:rPr lang="en-IN" dirty="0"/>
              <a:t> to efficiently compute subset aggregate values for an integer set with </a:t>
            </a:r>
            <a:r>
              <a:rPr lang="en-IN" b="1" dirty="0"/>
              <a:t>n ≤ 20</a:t>
            </a:r>
            <a:r>
              <a:rPr lang="en-IN" dirty="0"/>
              <a:t>. The system also provides query processing, subset visualization, and performance comparison between SOS DP and brute-force methods.</a:t>
            </a:r>
          </a:p>
        </p:txBody>
      </p:sp>
      <p:sp>
        <p:nvSpPr>
          <p:cNvPr id="7" name="TextBox 6">
            <a:extLst>
              <a:ext uri="{FF2B5EF4-FFF2-40B4-BE49-F238E27FC236}">
                <a16:creationId xmlns:a16="http://schemas.microsoft.com/office/drawing/2014/main" id="{45BFCD31-2583-9CE6-66F1-06FAAFF3A36E}"/>
              </a:ext>
            </a:extLst>
          </p:cNvPr>
          <p:cNvSpPr txBox="1"/>
          <p:nvPr/>
        </p:nvSpPr>
        <p:spPr>
          <a:xfrm>
            <a:off x="2936811" y="3744847"/>
            <a:ext cx="8689132" cy="2308324"/>
          </a:xfrm>
          <a:prstGeom prst="rect">
            <a:avLst/>
          </a:prstGeom>
          <a:noFill/>
        </p:spPr>
        <p:txBody>
          <a:bodyPr wrap="square">
            <a:spAutoFit/>
          </a:bodyPr>
          <a:lstStyle/>
          <a:p>
            <a:pPr>
              <a:buNone/>
            </a:pPr>
            <a:r>
              <a:rPr lang="en-IN" b="1" dirty="0"/>
              <a:t>Objectives</a:t>
            </a:r>
          </a:p>
          <a:p>
            <a:pPr marL="342900" lvl="0" indent="-342900">
              <a:buFont typeface="+mj-lt"/>
              <a:buAutoNum type="arabicPeriod"/>
            </a:pPr>
            <a:r>
              <a:rPr lang="en-IN" b="1" dirty="0"/>
              <a:t>Develop</a:t>
            </a:r>
            <a:r>
              <a:rPr lang="en-IN" dirty="0"/>
              <a:t> an SOS Dynamic Programming-based subset optimization tool. </a:t>
            </a:r>
          </a:p>
          <a:p>
            <a:pPr marL="342900" lvl="0" indent="-342900">
              <a:buFont typeface="+mj-lt"/>
              <a:buAutoNum type="arabicPeriod"/>
            </a:pPr>
            <a:r>
              <a:rPr lang="en-IN" b="1" dirty="0"/>
              <a:t>Compute</a:t>
            </a:r>
            <a:r>
              <a:rPr lang="en-IN" dirty="0"/>
              <a:t> subset sums efficiently for all possible bitmasks. </a:t>
            </a:r>
          </a:p>
          <a:p>
            <a:pPr marL="342900" lvl="0" indent="-342900">
              <a:buFont typeface="+mj-lt"/>
              <a:buAutoNum type="arabicPeriod"/>
            </a:pPr>
            <a:r>
              <a:rPr lang="en-IN" b="1" dirty="0"/>
              <a:t>Answer multiple subset queries</a:t>
            </a:r>
            <a:r>
              <a:rPr lang="en-IN" dirty="0"/>
              <a:t> using precomputed SOS DP values. </a:t>
            </a:r>
          </a:p>
          <a:p>
            <a:pPr marL="342900" lvl="0" indent="-342900">
              <a:buFont typeface="+mj-lt"/>
              <a:buAutoNum type="arabicPeriod"/>
            </a:pPr>
            <a:r>
              <a:rPr lang="en-IN" b="1" dirty="0"/>
              <a:t>Reduce execution time</a:t>
            </a:r>
            <a:r>
              <a:rPr lang="en-IN" dirty="0"/>
              <a:t> compared with brute-force subset enumeration. </a:t>
            </a:r>
          </a:p>
          <a:p>
            <a:pPr marL="342900" lvl="0" indent="-342900">
              <a:buFont typeface="+mj-lt"/>
              <a:buAutoNum type="arabicPeriod"/>
            </a:pPr>
            <a:r>
              <a:rPr lang="en-IN" b="1" dirty="0"/>
              <a:t>Visualize</a:t>
            </a:r>
            <a:r>
              <a:rPr lang="en-IN" dirty="0"/>
              <a:t> subset relationships and bitmask representations. </a:t>
            </a:r>
          </a:p>
          <a:p>
            <a:pPr marL="342900" lvl="0" indent="-342900">
              <a:buFont typeface="+mj-lt"/>
              <a:buAutoNum type="arabicPeriod"/>
            </a:pPr>
            <a:r>
              <a:rPr lang="en-IN" b="1" dirty="0"/>
              <a:t>Compare performance</a:t>
            </a:r>
            <a:r>
              <a:rPr lang="en-IN" dirty="0"/>
              <a:t> of SOS DP and brute-force approaches. </a:t>
            </a:r>
          </a:p>
          <a:p>
            <a:pPr marL="342900" lvl="0" indent="-342900">
              <a:buFont typeface="+mj-lt"/>
              <a:buAutoNum type="arabicPeriod"/>
            </a:pPr>
            <a:r>
              <a:rPr lang="en-IN" b="1" dirty="0"/>
              <a:t>Demonstrate scalability</a:t>
            </a:r>
            <a:r>
              <a:rPr lang="en-IN" dirty="0"/>
              <a:t> for integer sets with up to 20 elements. </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F4329B5D-98FB-9B7A-494B-0D6DFC940302}"/>
              </a:ext>
            </a:extLst>
          </p:cNvPr>
          <p:cNvPicPr>
            <a:picLocks noChangeAspect="1"/>
          </p:cNvPicPr>
          <p:nvPr/>
        </p:nvPicPr>
        <p:blipFill>
          <a:blip r:embed="rId2"/>
          <a:stretch>
            <a:fillRect/>
          </a:stretch>
        </p:blipFill>
        <p:spPr>
          <a:xfrm>
            <a:off x="3809999" y="951722"/>
            <a:ext cx="7088155" cy="557970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84A1AF07-223B-A3F7-9083-793B848BCF8C}"/>
              </a:ext>
            </a:extLst>
          </p:cNvPr>
          <p:cNvSpPr txBox="1"/>
          <p:nvPr/>
        </p:nvSpPr>
        <p:spPr>
          <a:xfrm>
            <a:off x="3048778" y="1720840"/>
            <a:ext cx="6097554" cy="3416320"/>
          </a:xfrm>
          <a:prstGeom prst="rect">
            <a:avLst/>
          </a:prstGeom>
          <a:noFill/>
        </p:spPr>
        <p:txBody>
          <a:bodyPr wrap="square">
            <a:spAutoFit/>
          </a:bodyPr>
          <a:lstStyle/>
          <a:p>
            <a:pPr>
              <a:buNone/>
            </a:pPr>
            <a:endParaRPr lang="en-IN" b="1" dirty="0"/>
          </a:p>
          <a:p>
            <a:pPr marL="342900" lvl="0" indent="-342900">
              <a:buFont typeface="Arial" panose="020B0604020202020204" pitchFamily="34" charset="0"/>
              <a:buChar char="•"/>
            </a:pPr>
            <a:r>
              <a:rPr lang="en-IN" dirty="0"/>
              <a:t>Successfully developed a </a:t>
            </a:r>
            <a:r>
              <a:rPr lang="en-IN" b="1" dirty="0"/>
              <a:t>Subset Optimization Tool using SOS Dynamic Programming</a:t>
            </a:r>
            <a:r>
              <a:rPr lang="en-IN" dirty="0"/>
              <a:t>.</a:t>
            </a:r>
          </a:p>
          <a:p>
            <a:pPr marL="342900" lvl="0" indent="-342900">
              <a:buFont typeface="Arial" panose="020B0604020202020204" pitchFamily="34" charset="0"/>
              <a:buChar char="•"/>
            </a:pPr>
            <a:r>
              <a:rPr lang="en-IN" dirty="0"/>
              <a:t>Computes subset sums efficiently for </a:t>
            </a:r>
            <a:r>
              <a:rPr lang="en-IN" b="1" dirty="0"/>
              <a:t>n ≤ 20 (up to 2²⁰ subsets)</a:t>
            </a:r>
            <a:r>
              <a:rPr lang="en-IN" dirty="0"/>
              <a:t>.</a:t>
            </a:r>
          </a:p>
          <a:p>
            <a:pPr marL="342900" lvl="0" indent="-342900">
              <a:buFont typeface="Arial" panose="020B0604020202020204" pitchFamily="34" charset="0"/>
              <a:buChar char="•"/>
            </a:pPr>
            <a:r>
              <a:rPr lang="en-IN" dirty="0"/>
              <a:t>Answers multiple subset-based queries with improved performance.</a:t>
            </a:r>
          </a:p>
          <a:p>
            <a:pPr marL="342900" lvl="0" indent="-342900">
              <a:buFont typeface="Arial" panose="020B0604020202020204" pitchFamily="34" charset="0"/>
              <a:buChar char="•"/>
            </a:pPr>
            <a:r>
              <a:rPr lang="en-IN" b="1" dirty="0"/>
              <a:t>SOS DP:</a:t>
            </a:r>
            <a:r>
              <a:rPr lang="en-IN" dirty="0"/>
              <a:t> O(n × 2ⁿ) preprocessing compared with slower brute-force approaches.</a:t>
            </a:r>
          </a:p>
          <a:p>
            <a:pPr marL="342900" lvl="0" indent="-342900">
              <a:buFont typeface="Arial" panose="020B0604020202020204" pitchFamily="34" charset="0"/>
              <a:buChar char="•"/>
            </a:pPr>
            <a:r>
              <a:rPr lang="en-IN" dirty="0"/>
              <a:t>Visualizes </a:t>
            </a:r>
            <a:r>
              <a:rPr lang="en-IN" b="1" dirty="0"/>
              <a:t>bitmask–subset relationships and subset sums</a:t>
            </a:r>
            <a:r>
              <a:rPr lang="en-IN" dirty="0"/>
              <a:t>.</a:t>
            </a:r>
          </a:p>
          <a:p>
            <a:pPr marL="342900" lvl="0" indent="-342900">
              <a:buFont typeface="Arial" panose="020B0604020202020204" pitchFamily="34" charset="0"/>
              <a:buChar char="•"/>
            </a:pPr>
            <a:r>
              <a:rPr lang="en-IN" dirty="0"/>
              <a:t>Performance comparison demonstrates the </a:t>
            </a:r>
            <a:r>
              <a:rPr lang="en-IN" b="1" dirty="0"/>
              <a:t>efficiency and scalability of SOS DP</a:t>
            </a:r>
            <a:r>
              <a:rPr lang="en-IN" dirty="0"/>
              <a:t>.</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graphicFrame>
        <p:nvGraphicFramePr>
          <p:cNvPr id="6" name="Table 5">
            <a:extLst>
              <a:ext uri="{FF2B5EF4-FFF2-40B4-BE49-F238E27FC236}">
                <a16:creationId xmlns:a16="http://schemas.microsoft.com/office/drawing/2014/main" id="{7F1102F5-D63B-4689-07B9-A65F1A2812E4}"/>
              </a:ext>
            </a:extLst>
          </p:cNvPr>
          <p:cNvGraphicFramePr>
            <a:graphicFrameLocks noGrp="1"/>
          </p:cNvGraphicFramePr>
          <p:nvPr>
            <p:extLst>
              <p:ext uri="{D42A27DB-BD31-4B8C-83A1-F6EECF244321}">
                <p14:modId xmlns:p14="http://schemas.microsoft.com/office/powerpoint/2010/main" val="2810090155"/>
              </p:ext>
            </p:extLst>
          </p:nvPr>
        </p:nvGraphicFramePr>
        <p:xfrm>
          <a:off x="3158270" y="2047930"/>
          <a:ext cx="6960638" cy="3474720"/>
        </p:xfrm>
        <a:graphic>
          <a:graphicData uri="http://schemas.openxmlformats.org/drawingml/2006/table">
            <a:tbl>
              <a:tblPr firstRow="1" bandRow="1">
                <a:tableStyleId>{5C22544A-7EE6-4342-B048-85BDC9FD1C3A}</a:tableStyleId>
              </a:tblPr>
              <a:tblGrid>
                <a:gridCol w="3480319">
                  <a:extLst>
                    <a:ext uri="{9D8B030D-6E8A-4147-A177-3AD203B41FA5}">
                      <a16:colId xmlns:a16="http://schemas.microsoft.com/office/drawing/2014/main" val="1207430958"/>
                    </a:ext>
                  </a:extLst>
                </a:gridCol>
                <a:gridCol w="3480319">
                  <a:extLst>
                    <a:ext uri="{9D8B030D-6E8A-4147-A177-3AD203B41FA5}">
                      <a16:colId xmlns:a16="http://schemas.microsoft.com/office/drawing/2014/main" val="2766161501"/>
                    </a:ext>
                  </a:extLst>
                </a:gridCol>
              </a:tblGrid>
              <a:tr h="236863">
                <a:tc>
                  <a:txBody>
                    <a:bodyPr/>
                    <a:lstStyle/>
                    <a:p>
                      <a:r>
                        <a:rPr lang="en-IN" dirty="0"/>
                        <a:t>HARDWARE</a:t>
                      </a:r>
                    </a:p>
                  </a:txBody>
                  <a:tcPr/>
                </a:tc>
                <a:tc>
                  <a:txBody>
                    <a:bodyPr/>
                    <a:lstStyle/>
                    <a:p>
                      <a:r>
                        <a:rPr lang="en-IN" dirty="0"/>
                        <a:t>SOFTWARE</a:t>
                      </a:r>
                    </a:p>
                  </a:txBody>
                  <a:tcPr/>
                </a:tc>
                <a:extLst>
                  <a:ext uri="{0D108BD9-81ED-4DB2-BD59-A6C34878D82A}">
                    <a16:rowId xmlns:a16="http://schemas.microsoft.com/office/drawing/2014/main" val="3062038688"/>
                  </a:ext>
                </a:extLst>
              </a:tr>
              <a:tr h="364832">
                <a:tc>
                  <a:txBody>
                    <a:bodyPr/>
                    <a:lstStyle/>
                    <a:p>
                      <a:r>
                        <a:rPr lang="en-IN" dirty="0"/>
                        <a:t>Intel Core i3 or equivalent and above</a:t>
                      </a:r>
                    </a:p>
                  </a:txBody>
                  <a:tcPr/>
                </a:tc>
                <a:tc>
                  <a:txBody>
                    <a:bodyPr/>
                    <a:lstStyle/>
                    <a:p>
                      <a:pPr>
                        <a:buNone/>
                      </a:pPr>
                      <a:r>
                        <a:rPr lang="en-IN" dirty="0"/>
                        <a:t>HTML, CSS, JavaScript </a:t>
                      </a:r>
                      <a:r>
                        <a:rPr lang="en-IN" i="1" dirty="0"/>
                        <a:t>(if using a web interface)</a:t>
                      </a:r>
                      <a:endParaRPr lang="en-IN" dirty="0"/>
                    </a:p>
                  </a:txBody>
                  <a:tcPr anchor="ctr"/>
                </a:tc>
                <a:extLst>
                  <a:ext uri="{0D108BD9-81ED-4DB2-BD59-A6C34878D82A}">
                    <a16:rowId xmlns:a16="http://schemas.microsoft.com/office/drawing/2014/main" val="10248736"/>
                  </a:ext>
                </a:extLst>
              </a:tr>
              <a:tr h="236863">
                <a:tc>
                  <a:txBody>
                    <a:bodyPr/>
                    <a:lstStyle/>
                    <a:p>
                      <a:r>
                        <a:rPr lang="en-IN" dirty="0"/>
                        <a:t>Minimum 4 GB</a:t>
                      </a:r>
                    </a:p>
                  </a:txBody>
                  <a:tcPr/>
                </a:tc>
                <a:tc>
                  <a:txBody>
                    <a:bodyPr/>
                    <a:lstStyle/>
                    <a:p>
                      <a:pPr>
                        <a:buNone/>
                      </a:pPr>
                      <a:r>
                        <a:rPr lang="en-IN" dirty="0"/>
                        <a:t>Windows 10/11, Linux, or macOS</a:t>
                      </a:r>
                    </a:p>
                  </a:txBody>
                  <a:tcPr anchor="ctr"/>
                </a:tc>
                <a:extLst>
                  <a:ext uri="{0D108BD9-81ED-4DB2-BD59-A6C34878D82A}">
                    <a16:rowId xmlns:a16="http://schemas.microsoft.com/office/drawing/2014/main" val="686275745"/>
                  </a:ext>
                </a:extLst>
              </a:tr>
              <a:tr h="236863">
                <a:tc>
                  <a:txBody>
                    <a:bodyPr/>
                    <a:lstStyle/>
                    <a:p>
                      <a:r>
                        <a:rPr lang="en-IN" dirty="0"/>
                        <a:t>At least 500 MB free space</a:t>
                      </a:r>
                    </a:p>
                  </a:txBody>
                  <a:tcPr/>
                </a:tc>
                <a:tc>
                  <a:txBody>
                    <a:bodyPr/>
                    <a:lstStyle/>
                    <a:p>
                      <a:pPr>
                        <a:buNone/>
                      </a:pPr>
                      <a:endParaRPr lang="en-IN" dirty="0"/>
                    </a:p>
                  </a:txBody>
                  <a:tcPr anchor="ctr"/>
                </a:tc>
                <a:extLst>
                  <a:ext uri="{0D108BD9-81ED-4DB2-BD59-A6C34878D82A}">
                    <a16:rowId xmlns:a16="http://schemas.microsoft.com/office/drawing/2014/main" val="2101525673"/>
                  </a:ext>
                </a:extLst>
              </a:tr>
              <a:tr h="236863">
                <a:tc>
                  <a:txBody>
                    <a:bodyPr/>
                    <a:lstStyle/>
                    <a:p>
                      <a:r>
                        <a:rPr lang="en-IN" dirty="0"/>
                        <a:t>Standard monitor/laptop display</a:t>
                      </a:r>
                    </a:p>
                  </a:txBody>
                  <a:tcPr/>
                </a:tc>
                <a:tc>
                  <a:txBody>
                    <a:bodyPr/>
                    <a:lstStyle/>
                    <a:p>
                      <a:pPr>
                        <a:buNone/>
                      </a:pPr>
                      <a:endParaRPr lang="en-IN" dirty="0"/>
                    </a:p>
                  </a:txBody>
                  <a:tcPr anchor="ctr"/>
                </a:tc>
                <a:extLst>
                  <a:ext uri="{0D108BD9-81ED-4DB2-BD59-A6C34878D82A}">
                    <a16:rowId xmlns:a16="http://schemas.microsoft.com/office/drawing/2014/main" val="4283932343"/>
                  </a:ext>
                </a:extLst>
              </a:tr>
              <a:tr h="236863">
                <a:tc>
                  <a:txBody>
                    <a:bodyPr/>
                    <a:lstStyle/>
                    <a:p>
                      <a:pPr>
                        <a:buNone/>
                      </a:pPr>
                      <a:r>
                        <a:rPr lang="en-IN" dirty="0"/>
                        <a:t>Optional, for development tools and libraries</a:t>
                      </a:r>
                    </a:p>
                  </a:txBody>
                  <a:tcPr anchor="ctr"/>
                </a:tc>
                <a:tc>
                  <a:txBody>
                    <a:bodyPr/>
                    <a:lstStyle/>
                    <a:p>
                      <a:pPr>
                        <a:buNone/>
                      </a:pPr>
                      <a:r>
                        <a:rPr lang="en-IN" dirty="0"/>
                        <a:t>Sum Over Subsets (SOS) Dynamic Programming</a:t>
                      </a:r>
                    </a:p>
                  </a:txBody>
                  <a:tcPr anchor="ctr"/>
                </a:tc>
                <a:extLst>
                  <a:ext uri="{0D108BD9-81ED-4DB2-BD59-A6C34878D82A}">
                    <a16:rowId xmlns:a16="http://schemas.microsoft.com/office/drawing/2014/main" val="1116727647"/>
                  </a:ext>
                </a:extLst>
              </a:tr>
              <a:tr h="236863">
                <a:tc>
                  <a:txBody>
                    <a:bodyPr/>
                    <a:lstStyle/>
                    <a:p>
                      <a:pPr>
                        <a:buNone/>
                      </a:pPr>
                      <a:endParaRPr lang="en-IN" dirty="0"/>
                    </a:p>
                  </a:txBody>
                  <a:tcPr anchor="ctr"/>
                </a:tc>
                <a:tc>
                  <a:txBody>
                    <a:bodyPr/>
                    <a:lstStyle/>
                    <a:p>
                      <a:pPr>
                        <a:buNone/>
                      </a:pPr>
                      <a:endParaRPr lang="en-IN" dirty="0"/>
                    </a:p>
                  </a:txBody>
                  <a:tcPr anchor="ctr"/>
                </a:tc>
                <a:extLst>
                  <a:ext uri="{0D108BD9-81ED-4DB2-BD59-A6C34878D82A}">
                    <a16:rowId xmlns:a16="http://schemas.microsoft.com/office/drawing/2014/main" val="1544564751"/>
                  </a:ext>
                </a:extLst>
              </a:tr>
              <a:tr h="236863">
                <a:tc>
                  <a:txBody>
                    <a:bodyPr/>
                    <a:lstStyle/>
                    <a:p>
                      <a:endParaRPr lang="en-IN"/>
                    </a:p>
                  </a:txBody>
                  <a:tcPr/>
                </a:tc>
                <a:tc>
                  <a:txBody>
                    <a:bodyPr/>
                    <a:lstStyle/>
                    <a:p>
                      <a:pPr>
                        <a:buNone/>
                      </a:pPr>
                      <a:endParaRPr lang="en-IN" dirty="0"/>
                    </a:p>
                  </a:txBody>
                  <a:tcPr anchor="ctr"/>
                </a:tc>
                <a:extLst>
                  <a:ext uri="{0D108BD9-81ED-4DB2-BD59-A6C34878D82A}">
                    <a16:rowId xmlns:a16="http://schemas.microsoft.com/office/drawing/2014/main" val="2387416748"/>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810C71A4-F008-742D-240A-4EE2D82C3A5F}"/>
              </a:ext>
            </a:extLst>
          </p:cNvPr>
          <p:cNvSpPr txBox="1"/>
          <p:nvPr/>
        </p:nvSpPr>
        <p:spPr>
          <a:xfrm>
            <a:off x="3048778" y="1720840"/>
            <a:ext cx="6097554" cy="3416320"/>
          </a:xfrm>
          <a:prstGeom prst="rect">
            <a:avLst/>
          </a:prstGeom>
          <a:noFill/>
        </p:spPr>
        <p:txBody>
          <a:bodyPr wrap="square">
            <a:spAutoFit/>
          </a:bodyPr>
          <a:lstStyle/>
          <a:p>
            <a:r>
              <a:rPr lang="en-IN" dirty="0"/>
              <a:t>The </a:t>
            </a:r>
            <a:r>
              <a:rPr lang="en-IN" b="1" dirty="0"/>
              <a:t>SOS Dynamic Programming Based Subset Optimization and Query Engine</a:t>
            </a:r>
            <a:r>
              <a:rPr lang="en-IN" dirty="0"/>
              <a:t> demonstrates how dynamic programming and </a:t>
            </a:r>
            <a:r>
              <a:rPr lang="en-IN" dirty="0" err="1"/>
              <a:t>bitmasking</a:t>
            </a:r>
            <a:r>
              <a:rPr lang="en-IN" dirty="0"/>
              <a:t> can efficiently solve multiple subset-based queries. By using SOS DP, the system computes aggregate subset values in </a:t>
            </a:r>
            <a:r>
              <a:rPr lang="en-IN" b="1" dirty="0"/>
              <a:t>O(n × 2ⁿ)</a:t>
            </a:r>
            <a:r>
              <a:rPr lang="en-IN" dirty="0"/>
              <a:t> time, providing better performance than repeatedly checking subsets using brute force. The performance comparison and visualization help demonstrate the practical advantages of the algorithm. Overall, the project provides a simple and effective implementation of advanced dynamic programming concepts and can be further extended to support more complex subset queries and larger-scale optimization problems.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83FE3246-CBD4-6C6D-1144-71BF7C94BE84}"/>
              </a:ext>
            </a:extLst>
          </p:cNvPr>
          <p:cNvSpPr txBox="1"/>
          <p:nvPr/>
        </p:nvSpPr>
        <p:spPr>
          <a:xfrm>
            <a:off x="3048778" y="889844"/>
            <a:ext cx="6097554" cy="4801314"/>
          </a:xfrm>
          <a:prstGeom prst="rect">
            <a:avLst/>
          </a:prstGeom>
          <a:noFill/>
        </p:spPr>
        <p:txBody>
          <a:bodyPr wrap="square">
            <a:spAutoFit/>
          </a:bodyPr>
          <a:lstStyle/>
          <a:p>
            <a:pPr marL="342900" lvl="0" indent="-342900">
              <a:buFont typeface="Arial" panose="020B0604020202020204" pitchFamily="34" charset="0"/>
              <a:buChar char="•"/>
            </a:pPr>
            <a:r>
              <a:rPr lang="en-IN" b="1" dirty="0"/>
              <a:t>Support larger input sizes</a:t>
            </a:r>
            <a:r>
              <a:rPr lang="en-IN" dirty="0"/>
              <a:t> beyond </a:t>
            </a:r>
            <a:r>
              <a:rPr lang="en-IN" dirty="0">
                <a:latin typeface="Courier New" panose="02070309020205020404" pitchFamily="49" charset="0"/>
              </a:rPr>
              <a:t>n ≤ 20</a:t>
            </a:r>
            <a:r>
              <a:rPr lang="en-IN" dirty="0"/>
              <a:t> using advanced optimization techniques.</a:t>
            </a:r>
          </a:p>
          <a:p>
            <a:pPr marL="342900" lvl="0" indent="-342900">
              <a:buFont typeface="Arial" panose="020B0604020202020204" pitchFamily="34" charset="0"/>
              <a:buChar char="•"/>
            </a:pPr>
            <a:r>
              <a:rPr lang="en-IN" b="1" dirty="0"/>
              <a:t>Add more query types</a:t>
            </a:r>
            <a:r>
              <a:rPr lang="en-IN" dirty="0"/>
              <a:t> such as subset maximum, minimum, XOR, AND, and frequency queries.</a:t>
            </a:r>
          </a:p>
          <a:p>
            <a:pPr marL="342900" lvl="0" indent="-342900">
              <a:buFont typeface="Arial" panose="020B0604020202020204" pitchFamily="34" charset="0"/>
              <a:buChar char="•"/>
            </a:pPr>
            <a:r>
              <a:rPr lang="en-IN" b="1" dirty="0"/>
              <a:t>Improve visualization</a:t>
            </a:r>
            <a:r>
              <a:rPr lang="en-IN" dirty="0"/>
              <a:t> with interactive bitmask and subset relationship graphs.</a:t>
            </a:r>
          </a:p>
          <a:p>
            <a:pPr marL="342900" lvl="0" indent="-342900">
              <a:buFont typeface="Arial" panose="020B0604020202020204" pitchFamily="34" charset="0"/>
              <a:buChar char="•"/>
            </a:pPr>
            <a:r>
              <a:rPr lang="en-IN" b="1" dirty="0"/>
              <a:t>Add parallel processing</a:t>
            </a:r>
            <a:r>
              <a:rPr lang="en-IN" dirty="0"/>
              <a:t> to speed up SOS DP computation for large datasets.</a:t>
            </a:r>
          </a:p>
          <a:p>
            <a:pPr marL="342900" lvl="0" indent="-342900">
              <a:buFont typeface="Arial" panose="020B0604020202020204" pitchFamily="34" charset="0"/>
              <a:buChar char="•"/>
            </a:pPr>
            <a:r>
              <a:rPr lang="en-IN" b="1" dirty="0"/>
              <a:t>Develop a web-based interface</a:t>
            </a:r>
            <a:r>
              <a:rPr lang="en-IN" dirty="0"/>
              <a:t> for easier interaction and visualization.</a:t>
            </a:r>
          </a:p>
          <a:p>
            <a:pPr marL="342900" lvl="0" indent="-342900">
              <a:buFont typeface="Arial" panose="020B0604020202020204" pitchFamily="34" charset="0"/>
              <a:buChar char="•"/>
            </a:pPr>
            <a:r>
              <a:rPr lang="en-IN" b="1" dirty="0"/>
              <a:t>Compare more algorithms</a:t>
            </a:r>
            <a:r>
              <a:rPr lang="en-IN" dirty="0"/>
              <a:t> such as Meet-in-the-Middle and other subset optimization techniques.</a:t>
            </a:r>
          </a:p>
          <a:p>
            <a:pPr marL="342900" lvl="0" indent="-342900">
              <a:buFont typeface="Arial" panose="020B0604020202020204" pitchFamily="34" charset="0"/>
              <a:buChar char="•"/>
            </a:pPr>
            <a:r>
              <a:rPr lang="en-IN" b="1" dirty="0"/>
              <a:t>Use real-world applications</a:t>
            </a:r>
            <a:r>
              <a:rPr lang="en-IN" dirty="0"/>
              <a:t> such as resource allocation, scheduling, feature selection, and combinatorial optimization.</a:t>
            </a:r>
          </a:p>
          <a:p>
            <a:pPr marL="342900" lvl="0" indent="-342900">
              <a:buFont typeface="Arial" panose="020B0604020202020204" pitchFamily="34" charset="0"/>
              <a:buChar char="•"/>
            </a:pPr>
            <a:r>
              <a:rPr lang="en-IN" b="1" dirty="0"/>
              <a:t>Provide real-time performance analysis</a:t>
            </a:r>
            <a:r>
              <a:rPr lang="en-IN" dirty="0"/>
              <a:t> for different input sizes and query counts.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1024</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Thyarla abhinav</cp:lastModifiedBy>
  <cp:revision>21</cp:revision>
  <dcterms:created xsi:type="dcterms:W3CDTF">2024-08-29T05:25:00Z</dcterms:created>
  <dcterms:modified xsi:type="dcterms:W3CDTF">2026-08-27T05:38:27Z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